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C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006840" y="658368"/>
            <a:ext cx="1874519" cy="1874519"/>
          </a:xfrm>
          <a:prstGeom prst="ellipse">
            <a:avLst/>
          </a:prstGeom>
          <a:solidFill>
            <a:srgbClr val="F7B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543800" y="2971800"/>
            <a:ext cx="3566160" cy="2011680"/>
          </a:xfrm>
          <a:prstGeom prst="roundRect">
            <a:avLst/>
          </a:prstGeom>
          <a:solidFill>
            <a:srgbClr val="133044"/>
          </a:solidFill>
          <a:ln>
            <a:solidFill>
              <a:srgbClr val="51B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18120" y="3246120"/>
            <a:ext cx="621792" cy="365760"/>
          </a:xfrm>
          <a:prstGeom prst="rect">
            <a:avLst/>
          </a:prstGeom>
          <a:solidFill>
            <a:srgbClr val="1870B0"/>
          </a:solidFill>
          <a:ln>
            <a:solidFill>
              <a:srgbClr val="51B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67928" y="3246120"/>
            <a:ext cx="621792" cy="365760"/>
          </a:xfrm>
          <a:prstGeom prst="rect">
            <a:avLst/>
          </a:prstGeom>
          <a:solidFill>
            <a:srgbClr val="1870B0"/>
          </a:solidFill>
          <a:ln>
            <a:solidFill>
              <a:srgbClr val="51B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317736" y="3246120"/>
            <a:ext cx="621792" cy="365760"/>
          </a:xfrm>
          <a:prstGeom prst="rect">
            <a:avLst/>
          </a:prstGeom>
          <a:solidFill>
            <a:srgbClr val="1870B0"/>
          </a:solidFill>
          <a:ln>
            <a:solidFill>
              <a:srgbClr val="51B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67544" y="3246120"/>
            <a:ext cx="621792" cy="365760"/>
          </a:xfrm>
          <a:prstGeom prst="rect">
            <a:avLst/>
          </a:prstGeom>
          <a:solidFill>
            <a:srgbClr val="1870B0"/>
          </a:solidFill>
          <a:ln>
            <a:solidFill>
              <a:srgbClr val="51B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18120" y="3749039"/>
            <a:ext cx="621792" cy="365760"/>
          </a:xfrm>
          <a:prstGeom prst="rect">
            <a:avLst/>
          </a:prstGeom>
          <a:solidFill>
            <a:srgbClr val="1870B0"/>
          </a:solidFill>
          <a:ln>
            <a:solidFill>
              <a:srgbClr val="51B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67928" y="3749039"/>
            <a:ext cx="621792" cy="365760"/>
          </a:xfrm>
          <a:prstGeom prst="rect">
            <a:avLst/>
          </a:prstGeom>
          <a:solidFill>
            <a:srgbClr val="1870B0"/>
          </a:solidFill>
          <a:ln>
            <a:solidFill>
              <a:srgbClr val="51B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317736" y="3749039"/>
            <a:ext cx="621792" cy="365760"/>
          </a:xfrm>
          <a:prstGeom prst="rect">
            <a:avLst/>
          </a:prstGeom>
          <a:solidFill>
            <a:srgbClr val="1870B0"/>
          </a:solidFill>
          <a:ln>
            <a:solidFill>
              <a:srgbClr val="51B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67544" y="3749039"/>
            <a:ext cx="621792" cy="365760"/>
          </a:xfrm>
          <a:prstGeom prst="rect">
            <a:avLst/>
          </a:prstGeom>
          <a:solidFill>
            <a:srgbClr val="1870B0"/>
          </a:solidFill>
          <a:ln>
            <a:solidFill>
              <a:srgbClr val="51B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18120" y="4251960"/>
            <a:ext cx="621792" cy="365760"/>
          </a:xfrm>
          <a:prstGeom prst="rect">
            <a:avLst/>
          </a:prstGeom>
          <a:solidFill>
            <a:srgbClr val="1870B0"/>
          </a:solidFill>
          <a:ln>
            <a:solidFill>
              <a:srgbClr val="51B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67928" y="4251960"/>
            <a:ext cx="621792" cy="365760"/>
          </a:xfrm>
          <a:prstGeom prst="rect">
            <a:avLst/>
          </a:prstGeom>
          <a:solidFill>
            <a:srgbClr val="1870B0"/>
          </a:solidFill>
          <a:ln>
            <a:solidFill>
              <a:srgbClr val="51B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17736" y="4251960"/>
            <a:ext cx="621792" cy="365760"/>
          </a:xfrm>
          <a:prstGeom prst="rect">
            <a:avLst/>
          </a:prstGeom>
          <a:solidFill>
            <a:srgbClr val="1870B0"/>
          </a:solidFill>
          <a:ln>
            <a:solidFill>
              <a:srgbClr val="51B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067544" y="4251960"/>
            <a:ext cx="621792" cy="365760"/>
          </a:xfrm>
          <a:prstGeom prst="rect">
            <a:avLst/>
          </a:prstGeom>
          <a:solidFill>
            <a:srgbClr val="1870B0"/>
          </a:solidFill>
          <a:ln>
            <a:solidFill>
              <a:srgbClr val="51B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658368"/>
            <a:ext cx="109728" cy="5257800"/>
          </a:xfrm>
          <a:prstGeom prst="rect">
            <a:avLst/>
          </a:prstGeom>
          <a:solidFill>
            <a:srgbClr val="F7B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8686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7B72D"/>
                </a:solidFill>
                <a:latin typeface="Aptos"/>
              </a:defRPr>
            </a:pPr>
            <a:r>
              <a:t>JAVA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1325880"/>
            <a:ext cx="61264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AFCFD"/>
                </a:solidFill>
                <a:latin typeface="Aptos Display"/>
              </a:defRPr>
            </a:pPr>
            <a:r>
              <a:t>ROOFTOP SOLAR</a:t>
            </a:r>
            <a:br/>
            <a:r>
              <a:t>ENERGY MONITOR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" y="3063240"/>
            <a:ext cx="6035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51B5DA"/>
                </a:solidFill>
                <a:latin typeface="Aptos"/>
              </a:defRPr>
            </a:pPr>
            <a:r>
              <a:t>Monitor • Calculate • Classify • Analyze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25880" y="3794760"/>
            <a:ext cx="5669280" cy="1417320"/>
          </a:xfrm>
          <a:prstGeom prst="roundRect">
            <a:avLst/>
          </a:prstGeom>
          <a:solidFill>
            <a:srgbClr val="13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72768" y="400507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7B72D"/>
                </a:solidFill>
                <a:latin typeface="Aptos"/>
              </a:defRPr>
            </a:pPr>
            <a:r>
              <a:t>TEAM MEMBERS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370832"/>
            <a:ext cx="5029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AFCFD"/>
                </a:solidFill>
                <a:latin typeface="Aptos"/>
              </a:defRPr>
            </a:pPr>
            <a:r>
              <a:t>K. Shanmuk — 2620040047</a:t>
            </a:r>
            <a:br/>
            <a:r>
              <a:t>K. Sai Varshith Krishna — 2620040129</a:t>
            </a:r>
            <a:br/>
            <a:r>
              <a:t>D. Sri Pavan Ranga — 2620040106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309360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51B5DA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870B0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98755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A1C2D"/>
                </a:solidFill>
                <a:latin typeface="Aptos"/>
              </a:defRPr>
            </a:pPr>
            <a: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3891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67778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914400" cy="54864"/>
          </a:xfrm>
          <a:prstGeom prst="rect">
            <a:avLst/>
          </a:prstGeom>
          <a:solidFill>
            <a:srgbClr val="F7B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794760" cy="4251960"/>
          </a:xfrm>
          <a:prstGeom prst="roundRect">
            <a:avLst/>
          </a:prstGeom>
          <a:solidFill>
            <a:srgbClr val="0A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938528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7B72D"/>
                </a:solidFill>
                <a:latin typeface="Aptos"/>
              </a:defRPr>
            </a:pPr>
            <a:r>
              <a:t>SOLAR ENERGY FLOW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2514600"/>
            <a:ext cx="658368" cy="658368"/>
          </a:xfrm>
          <a:prstGeom prst="ellipse">
            <a:avLst/>
          </a:prstGeom>
          <a:solidFill>
            <a:srgbClr val="51B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60904"/>
            <a:ext cx="658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A1C2D"/>
                </a:solidFill>
                <a:latin typeface="Aptos"/>
              </a:defRPr>
            </a:pPr>
            <a:r>
              <a:t>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263347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AFCFD"/>
                </a:solidFill>
                <a:latin typeface="Aptos"/>
              </a:defRPr>
            </a:pPr>
            <a:r>
              <a:t>VOLTAGE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99032" y="3172968"/>
            <a:ext cx="45720" cy="320040"/>
          </a:xfrm>
          <a:prstGeom prst="rect">
            <a:avLst/>
          </a:prstGeom>
          <a:solidFill>
            <a:srgbClr val="6777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3246120"/>
            <a:ext cx="658368" cy="658368"/>
          </a:xfrm>
          <a:prstGeom prst="ellipse">
            <a:avLst/>
          </a:prstGeom>
          <a:solidFill>
            <a:srgbClr val="32A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392424"/>
            <a:ext cx="658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A1C2D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01952" y="3364991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AFCFD"/>
                </a:solidFill>
                <a:latin typeface="Aptos"/>
              </a:defRPr>
            </a:pPr>
            <a:r>
              <a:t>CURRENT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99032" y="3904487"/>
            <a:ext cx="45720" cy="320040"/>
          </a:xfrm>
          <a:prstGeom prst="rect">
            <a:avLst/>
          </a:prstGeom>
          <a:solidFill>
            <a:srgbClr val="6777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97280" y="3977639"/>
            <a:ext cx="658368" cy="658368"/>
          </a:xfrm>
          <a:prstGeom prst="ellipse">
            <a:avLst/>
          </a:prstGeom>
          <a:solidFill>
            <a:srgbClr val="F7B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123944"/>
            <a:ext cx="658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A1C2D"/>
                </a:solidFill>
                <a:latin typeface="Aptos"/>
              </a:defRPr>
            </a:pPr>
            <a:r>
              <a:t>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1952" y="4096511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AFCFD"/>
                </a:solidFill>
                <a:latin typeface="Aptos"/>
              </a:defRPr>
            </a:pPr>
            <a:r>
              <a:t>POWER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99032" y="4636007"/>
            <a:ext cx="45720" cy="320040"/>
          </a:xfrm>
          <a:prstGeom prst="rect">
            <a:avLst/>
          </a:prstGeom>
          <a:solidFill>
            <a:srgbClr val="6777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7280" y="4709160"/>
            <a:ext cx="658368" cy="658368"/>
          </a:xfrm>
          <a:prstGeom prst="ellipse">
            <a:avLst/>
          </a:prstGeom>
          <a:solidFill>
            <a:srgbClr val="51B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855464"/>
            <a:ext cx="658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A1C2D"/>
                </a:solidFill>
                <a:latin typeface="Aptos"/>
              </a:defRPr>
            </a:pPr>
            <a:r>
              <a:t>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01952" y="482803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AFCFD"/>
                </a:solidFill>
                <a:latin typeface="Aptos"/>
              </a:defRPr>
            </a:pPr>
            <a:r>
              <a:t>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1737360"/>
            <a:ext cx="5943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A1C2D"/>
                </a:solidFill>
                <a:latin typeface="Aptos"/>
              </a:defRPr>
            </a:pPr>
            <a:r>
              <a:t>What the application does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2331720"/>
            <a:ext cx="6080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303A"/>
                </a:solidFill>
                <a:latin typeface="Aptos"/>
              </a:defRPr>
            </a:pPr>
            <a:r>
              <a:t>• Accepts voltage and current for multiple solar panels.</a:t>
            </a:r>
          </a:p>
          <a:p>
            <a:pPr>
              <a:spcAft>
                <a:spcPts val="800"/>
              </a:spcAft>
              <a:defRPr sz="1700">
                <a:solidFill>
                  <a:srgbClr val="23303A"/>
                </a:solidFill>
                <a:latin typeface="Aptos"/>
              </a:defRPr>
            </a:pPr>
            <a:r>
              <a:t>• Calculates generated power using Power = Voltage × Current.</a:t>
            </a:r>
          </a:p>
          <a:p>
            <a:pPr>
              <a:spcAft>
                <a:spcPts val="800"/>
              </a:spcAft>
              <a:defRPr sz="1700">
                <a:solidFill>
                  <a:srgbClr val="23303A"/>
                </a:solidFill>
                <a:latin typeface="Aptos"/>
              </a:defRPr>
            </a:pPr>
            <a:r>
              <a:t>• Classifies each panel as NORMAL, MODERATE, or LOW POWER.</a:t>
            </a:r>
          </a:p>
          <a:p>
            <a:pPr>
              <a:spcAft>
                <a:spcPts val="800"/>
              </a:spcAft>
              <a:defRPr sz="1700">
                <a:solidFill>
                  <a:srgbClr val="23303A"/>
                </a:solidFill>
                <a:latin typeface="Aptos"/>
              </a:defRPr>
            </a:pPr>
            <a:r>
              <a:t>• Calculates total and average power.</a:t>
            </a:r>
          </a:p>
          <a:p>
            <a:pPr>
              <a:spcAft>
                <a:spcPts val="800"/>
              </a:spcAft>
              <a:defRPr sz="1700">
                <a:solidFill>
                  <a:srgbClr val="23303A"/>
                </a:solidFill>
                <a:latin typeface="Aptos"/>
              </a:defRPr>
            </a:pPr>
            <a:r>
              <a:t>• Performs searching, sorting, and 2D-array monitoring.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83480" y="5440680"/>
            <a:ext cx="6035040" cy="566928"/>
          </a:xfrm>
          <a:prstGeom prst="roundRect">
            <a:avLst/>
          </a:prstGeom>
          <a:solidFill>
            <a:srgbClr val="ED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93792" y="5596128"/>
            <a:ext cx="5623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870B0"/>
                </a:solidFill>
                <a:latin typeface="Aptos"/>
              </a:defRPr>
            </a:pPr>
            <a:r>
              <a:t>NORMAL ≥ 500 W   |   MODERATE 300–499.99 W   |   LOW &lt; 300 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870B0"/>
                </a:solidFill>
                <a:latin typeface="Aptos"/>
              </a:defRPr>
            </a:pPr>
            <a:r>
              <a:t>PROJECT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98755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A1C2D"/>
                </a:solidFill>
                <a:latin typeface="Aptos"/>
              </a:defRPr>
            </a:pPr>
            <a:r>
              <a:t>Understanding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3891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67778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914400" cy="54864"/>
          </a:xfrm>
          <a:prstGeom prst="rect">
            <a:avLst/>
          </a:prstGeom>
          <a:solidFill>
            <a:srgbClr val="F7B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1828800" cy="2514600"/>
          </a:xfrm>
          <a:prstGeom prst="roundRect">
            <a:avLst/>
          </a:prstGeom>
          <a:solidFill>
            <a:srgbClr val="ED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8720" y="2039112"/>
            <a:ext cx="640080" cy="640080"/>
          </a:xfrm>
          <a:prstGeom prst="ellipse">
            <a:avLst/>
          </a:prstGeom>
          <a:solidFill>
            <a:srgbClr val="51B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221992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A1C2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88036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A1C2D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337560"/>
            <a:ext cx="1508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23303A"/>
                </a:solidFill>
                <a:latin typeface="Aptos"/>
              </a:defRPr>
            </a:pPr>
            <a:r>
              <a:t>Panels</a:t>
            </a:r>
            <a:br/>
            <a:r>
              <a:t>Voltage</a:t>
            </a:r>
            <a:br/>
            <a:r>
              <a:t>Current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1828800"/>
            <a:ext cx="1828800" cy="2514600"/>
          </a:xfrm>
          <a:prstGeom prst="roundRect">
            <a:avLst/>
          </a:prstGeom>
          <a:solidFill>
            <a:srgbClr val="ED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74720" y="2039112"/>
            <a:ext cx="640080" cy="640080"/>
          </a:xfrm>
          <a:prstGeom prst="ellipse">
            <a:avLst/>
          </a:prstGeom>
          <a:solidFill>
            <a:srgbClr val="187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2221992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A1C2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4952" y="288036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A1C2D"/>
                </a:solidFill>
                <a:latin typeface="Aptos"/>
              </a:defRPr>
            </a:pPr>
            <a:r>
              <a:t>CALCULATE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4952" y="3337560"/>
            <a:ext cx="1508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23303A"/>
                </a:solidFill>
                <a:latin typeface="Aptos"/>
              </a:defRPr>
            </a:pPr>
            <a:r>
              <a:t>Power = V × 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60" y="1828800"/>
            <a:ext cx="1828800" cy="2514600"/>
          </a:xfrm>
          <a:prstGeom prst="roundRect">
            <a:avLst/>
          </a:prstGeom>
          <a:solidFill>
            <a:srgbClr val="ED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60720" y="2039112"/>
            <a:ext cx="640080" cy="640080"/>
          </a:xfrm>
          <a:prstGeom prst="ellipse">
            <a:avLst/>
          </a:prstGeom>
          <a:solidFill>
            <a:srgbClr val="F7B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0" y="2221992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A1C2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0952" y="288036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A1C2D"/>
                </a:solidFill>
                <a:latin typeface="Aptos"/>
              </a:defRPr>
            </a:pPr>
            <a:r>
              <a:t>CLASSIFY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0952" y="3337560"/>
            <a:ext cx="1508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23303A"/>
                </a:solidFill>
                <a:latin typeface="Aptos"/>
              </a:defRPr>
            </a:pPr>
            <a:r>
              <a:t>Normal</a:t>
            </a:r>
            <a:br/>
            <a:r>
              <a:t>Moderate</a:t>
            </a:r>
            <a:br/>
            <a:r>
              <a:t>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1828800"/>
            <a:ext cx="1828800" cy="2514600"/>
          </a:xfrm>
          <a:prstGeom prst="roundRect">
            <a:avLst/>
          </a:prstGeom>
          <a:solidFill>
            <a:srgbClr val="ED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0" y="2039112"/>
            <a:ext cx="640080" cy="640080"/>
          </a:xfrm>
          <a:prstGeom prst="ellipse">
            <a:avLst/>
          </a:prstGeom>
          <a:solidFill>
            <a:srgbClr val="32A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2221992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A1C2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16952" y="288036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A1C2D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6952" y="3337560"/>
            <a:ext cx="1508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23303A"/>
                </a:solidFill>
                <a:latin typeface="Aptos"/>
              </a:defRPr>
            </a:pPr>
            <a:r>
              <a:t>Total</a:t>
            </a:r>
            <a:br/>
            <a:r>
              <a:t>Average</a:t>
            </a:r>
            <a:br/>
            <a:r>
              <a:t>Search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38360" y="1828800"/>
            <a:ext cx="1828800" cy="2514600"/>
          </a:xfrm>
          <a:prstGeom prst="roundRect">
            <a:avLst/>
          </a:prstGeom>
          <a:solidFill>
            <a:srgbClr val="ED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332720" y="2039112"/>
            <a:ext cx="640080" cy="640080"/>
          </a:xfrm>
          <a:prstGeom prst="ellipse">
            <a:avLst/>
          </a:prstGeom>
          <a:solidFill>
            <a:srgbClr val="51B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0" y="2221992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A1C2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02952" y="288036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A1C2D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02952" y="3337560"/>
            <a:ext cx="1508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23303A"/>
                </a:solidFill>
                <a:latin typeface="Aptos"/>
              </a:defRPr>
            </a:pPr>
            <a:r>
              <a:t>Ranking</a:t>
            </a:r>
            <a:br/>
            <a:r>
              <a:t>2D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80060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870B0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4754880"/>
            <a:ext cx="9784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3303A"/>
                </a:solidFill>
                <a:latin typeface="Aptos"/>
              </a:defRPr>
            </a:pPr>
            <a:r>
              <a:t>Solar panels can produce different amounts of power. Manual calculation and comparison becomes inconvenient when multiple panels are involved.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596128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A1C2D"/>
                </a:solidFill>
                <a:latin typeface="Aptos"/>
              </a:defRPr>
            </a:pPr>
            <a:r>
              <a:t>Output → individual power • status • total • average • search result • ranking • monitoring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870B0"/>
                </a:solidFill>
                <a:latin typeface="Aptos"/>
              </a:defRPr>
            </a:pPr>
            <a:r>
              <a:t>JAVA SYLLABUS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98755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A1C2D"/>
                </a:solidFill>
                <a:latin typeface="Aptos"/>
              </a:defRPr>
            </a:pPr>
            <a:r>
              <a:t>CO-1 —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3891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67778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914400" cy="54864"/>
          </a:xfrm>
          <a:prstGeom prst="rect">
            <a:avLst/>
          </a:prstGeom>
          <a:solidFill>
            <a:srgbClr val="F7B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337560" cy="3474720"/>
          </a:xfrm>
          <a:prstGeom prst="roundRect">
            <a:avLst/>
          </a:prstGeom>
          <a:solidFill>
            <a:srgbClr val="ED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64008" cy="3474720"/>
          </a:xfrm>
          <a:prstGeom prst="rect">
            <a:avLst/>
          </a:prstGeom>
          <a:solidFill>
            <a:srgbClr val="51B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856232"/>
            <a:ext cx="2971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51B5DA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58568"/>
            <a:ext cx="297180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3303A"/>
                </a:solidFill>
                <a:latin typeface="Aptos"/>
              </a:defRPr>
            </a:pPr>
            <a:r>
              <a:t>Voltage (V)</a:t>
            </a:r>
            <a:br/>
            <a:r>
              <a:t>Current (A)</a:t>
            </a:r>
            <a:br/>
            <a:r>
              <a:t>Number of panels</a:t>
            </a:r>
            <a:br/>
            <a:r>
              <a:t>User input via Scanner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91640"/>
            <a:ext cx="3337560" cy="3474720"/>
          </a:xfrm>
          <a:prstGeom prst="roundRect">
            <a:avLst/>
          </a:prstGeom>
          <a:solidFill>
            <a:srgbClr val="ED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91640"/>
            <a:ext cx="64008" cy="3474720"/>
          </a:xfrm>
          <a:prstGeom prst="rect">
            <a:avLst/>
          </a:prstGeom>
          <a:solidFill>
            <a:srgbClr val="F7B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856232"/>
            <a:ext cx="2971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7B72D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258568"/>
            <a:ext cx="297180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3303A"/>
                </a:solidFill>
                <a:latin typeface="Aptos"/>
              </a:defRPr>
            </a:pPr>
            <a:r>
              <a:t>Power = Voltage × Current</a:t>
            </a:r>
            <a:br/>
            <a:r>
              <a:t>Variables &amp; data types</a:t>
            </a:r>
            <a:br/>
            <a:r>
              <a:t>Arithmetic operators</a:t>
            </a:r>
            <a:br/>
            <a:r>
              <a:t>Relational operators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691640"/>
            <a:ext cx="3337560" cy="3474720"/>
          </a:xfrm>
          <a:prstGeom prst="roundRect">
            <a:avLst/>
          </a:prstGeom>
          <a:solidFill>
            <a:srgbClr val="ED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691640"/>
            <a:ext cx="64008" cy="3474720"/>
          </a:xfrm>
          <a:prstGeom prst="rect">
            <a:avLst/>
          </a:prstGeom>
          <a:solidFill>
            <a:srgbClr val="32A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1856232"/>
            <a:ext cx="2971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32A670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2258568"/>
            <a:ext cx="297180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3303A"/>
                </a:solidFill>
                <a:latin typeface="Aptos"/>
              </a:defRPr>
            </a:pPr>
            <a:r>
              <a:t>Panel power</a:t>
            </a:r>
            <a:br/>
            <a:r>
              <a:t>Panel status</a:t>
            </a:r>
            <a:br/>
            <a:r>
              <a:t>Total power</a:t>
            </a:r>
            <a:br/>
            <a:r>
              <a:t>Average power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4406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A1C2D"/>
                </a:solidFill>
                <a:latin typeface="Aptos"/>
              </a:defRPr>
            </a:pPr>
            <a:r>
              <a:t>Concepts demonstrated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5394960"/>
            <a:ext cx="8366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303A"/>
                </a:solidFill>
                <a:latin typeface="Aptos"/>
              </a:defRPr>
            </a:pPr>
            <a:r>
              <a:t>Computational Thinking  •  IPO Model  •  Problem Solving  •  Java Program Structure  •  int / double  •  Operators  •  Scanner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870B0"/>
                </a:solidFill>
                <a:latin typeface="Aptos"/>
              </a:defRPr>
            </a:pPr>
            <a:r>
              <a:t>JAVA SYLLABUS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98755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A1C2D"/>
                </a:solidFill>
                <a:latin typeface="Aptos"/>
              </a:defRPr>
            </a:pPr>
            <a:r>
              <a:t>CO-2 — Control &amp; Iteration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3891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67778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914400" cy="54864"/>
          </a:xfrm>
          <a:prstGeom prst="rect">
            <a:avLst/>
          </a:prstGeom>
          <a:solidFill>
            <a:srgbClr val="F7B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4983480" cy="4251960"/>
          </a:xfrm>
          <a:prstGeom prst="roundRect">
            <a:avLst/>
          </a:prstGeom>
          <a:solidFill>
            <a:srgbClr val="0A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874519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7B72D"/>
                </a:solidFill>
                <a:latin typeface="Aptos"/>
              </a:defRPr>
            </a:pPr>
            <a:r>
              <a:t>PANEL STATUS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423160"/>
            <a:ext cx="41605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FAFCFD"/>
                </a:solidFill>
                <a:latin typeface="Consolas"/>
              </a:defRPr>
            </a:pPr>
            <a:r>
              <a:t>if (power[i] &gt;= 500)</a:t>
            </a:r>
            <a:br/>
            <a:r>
              <a:t>    NORMAL</a:t>
            </a:r>
            <a:br/>
            <a:r>
              <a:t>else if (power[i] &gt;= 300)</a:t>
            </a:r>
            <a:br/>
            <a:r>
              <a:t>    MODERATE</a:t>
            </a:r>
            <a:br/>
            <a:r>
              <a:t>else</a:t>
            </a:r>
            <a:br/>
            <a:r>
              <a:t>    LOW POWER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4892040"/>
            <a:ext cx="4160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51B5DA"/>
                </a:solidFill>
                <a:latin typeface="Aptos"/>
              </a:defRPr>
            </a:pPr>
            <a:r>
              <a:t>for loop → processes every panel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600200"/>
            <a:ext cx="2514600" cy="1508760"/>
          </a:xfrm>
          <a:prstGeom prst="roundRect">
            <a:avLst/>
          </a:prstGeom>
          <a:solidFill>
            <a:srgbClr val="ED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600200"/>
            <a:ext cx="64008" cy="1508760"/>
          </a:xfrm>
          <a:prstGeom prst="rect">
            <a:avLst/>
          </a:prstGeom>
          <a:solidFill>
            <a:srgbClr val="187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0488" y="1764792"/>
            <a:ext cx="2148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870B0"/>
                </a:solidFill>
                <a:latin typeface="Aptos"/>
              </a:defRPr>
            </a:pPr>
            <a:r>
              <a:t>DECISIONS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0488" y="2167128"/>
            <a:ext cx="214884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3303A"/>
                </a:solidFill>
                <a:latin typeface="Aptos"/>
              </a:defRPr>
            </a:pPr>
            <a:r>
              <a:t>if</a:t>
            </a:r>
            <a:br/>
            <a:r>
              <a:t>else-if</a:t>
            </a:r>
            <a:br/>
            <a:r>
              <a:t>else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600200"/>
            <a:ext cx="2514600" cy="1508760"/>
          </a:xfrm>
          <a:prstGeom prst="roundRect">
            <a:avLst/>
          </a:prstGeom>
          <a:solidFill>
            <a:srgbClr val="ED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23960" y="1600200"/>
            <a:ext cx="64008" cy="1508760"/>
          </a:xfrm>
          <a:prstGeom prst="rect">
            <a:avLst/>
          </a:prstGeom>
          <a:solidFill>
            <a:srgbClr val="32A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25128" y="1764792"/>
            <a:ext cx="2148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32A670"/>
                </a:solidFill>
                <a:latin typeface="Aptos"/>
              </a:defRPr>
            </a:pPr>
            <a:r>
              <a:t>ITERATION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25128" y="2167128"/>
            <a:ext cx="214884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3303A"/>
                </a:solidFill>
                <a:latin typeface="Aptos"/>
              </a:defRPr>
            </a:pPr>
            <a:r>
              <a:t>for loop</a:t>
            </a:r>
            <a:br/>
            <a:r>
              <a:t>Repeated processing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3383280"/>
            <a:ext cx="2514600" cy="1508760"/>
          </a:xfrm>
          <a:prstGeom prst="roundRect">
            <a:avLst/>
          </a:prstGeom>
          <a:solidFill>
            <a:srgbClr val="ED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89320" y="3383280"/>
            <a:ext cx="64008" cy="1508760"/>
          </a:xfrm>
          <a:prstGeom prst="rect">
            <a:avLst/>
          </a:prstGeom>
          <a:solidFill>
            <a:srgbClr val="F7B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0488" y="3547872"/>
            <a:ext cx="2148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7B72D"/>
                </a:solidFill>
                <a:latin typeface="Aptos"/>
              </a:defRPr>
            </a:pPr>
            <a:r>
              <a:t>METHODS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0488" y="3950208"/>
            <a:ext cx="214884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3303A"/>
                </a:solidFill>
                <a:latin typeface="Aptos"/>
              </a:defRPr>
            </a:pPr>
            <a:r>
              <a:t>Total power</a:t>
            </a:r>
            <a:br/>
            <a:r>
              <a:t>Linear search</a:t>
            </a:r>
            <a:br/>
            <a:r>
              <a:t>Sorting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23960" y="3383280"/>
            <a:ext cx="2514600" cy="1508760"/>
          </a:xfrm>
          <a:prstGeom prst="roundRect">
            <a:avLst/>
          </a:prstGeom>
          <a:solidFill>
            <a:srgbClr val="ED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23960" y="3383280"/>
            <a:ext cx="64008" cy="1508760"/>
          </a:xfrm>
          <a:prstGeom prst="rect">
            <a:avLst/>
          </a:prstGeom>
          <a:solidFill>
            <a:srgbClr val="51B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25128" y="3547872"/>
            <a:ext cx="2148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51B5DA"/>
                </a:solidFill>
                <a:latin typeface="Aptos"/>
              </a:defRPr>
            </a:pPr>
            <a:r>
              <a:t>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5128" y="3950208"/>
            <a:ext cx="214884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3303A"/>
                </a:solidFill>
                <a:latin typeface="Aptos"/>
              </a:defRPr>
            </a:pPr>
            <a:r>
              <a:t>Input → Process</a:t>
            </a:r>
            <a:br/>
            <a:r>
              <a:t>→ Decision →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5230368"/>
            <a:ext cx="5349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23303A"/>
                </a:solidFill>
                <a:latin typeface="Aptos"/>
              </a:defRPr>
            </a:pPr>
            <a:r>
              <a:t>Overall system decision: average power is used to determine whether the system is NORMAL or NEEDS ATTENTION.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870B0"/>
                </a:solidFill>
                <a:latin typeface="Aptos"/>
              </a:defRPr>
            </a:pPr>
            <a:r>
              <a:t>JAVA SYLLABUS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98755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A1C2D"/>
                </a:solidFill>
                <a:latin typeface="Aptos"/>
              </a:defRPr>
            </a:pPr>
            <a:r>
              <a:t>CO-3 — Arrays &amp; Data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3891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677781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914400" cy="54864"/>
          </a:xfrm>
          <a:prstGeom prst="rect">
            <a:avLst/>
          </a:prstGeom>
          <a:solidFill>
            <a:srgbClr val="F7B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870B0"/>
                </a:solidFill>
                <a:latin typeface="Aptos"/>
              </a:defRPr>
            </a:pPr>
            <a:r>
              <a:t>1D ARRAYS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731520" cy="594360"/>
          </a:xfrm>
          <a:prstGeom prst="roundRect">
            <a:avLst/>
          </a:prstGeom>
          <a:solidFill>
            <a:srgbClr val="51B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A1C2D"/>
                </a:solidFill>
                <a:latin typeface="Aptos"/>
              </a:defRPr>
            </a:pPr>
            <a:r>
              <a:t>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00200" y="2011680"/>
            <a:ext cx="731520" cy="594360"/>
          </a:xfrm>
          <a:prstGeom prst="roundRect">
            <a:avLst/>
          </a:prstGeom>
          <a:solidFill>
            <a:srgbClr val="32A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0200" y="2194560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A1C2D"/>
                </a:solidFill>
                <a:latin typeface="Aptos"/>
              </a:defRPr>
            </a:pPr>
            <a:r>
              <a:t>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2011680"/>
            <a:ext cx="731520" cy="594360"/>
          </a:xfrm>
          <a:prstGeom prst="roundRect">
            <a:avLst/>
          </a:prstGeom>
          <a:solidFill>
            <a:srgbClr val="F7B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4600" y="2194560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A1C2D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2011680"/>
            <a:ext cx="731520" cy="594360"/>
          </a:xfrm>
          <a:prstGeom prst="roundRect">
            <a:avLst/>
          </a:prstGeom>
          <a:solidFill>
            <a:srgbClr val="F7B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2194560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A1C2D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7432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77781"/>
                </a:solidFill>
                <a:latin typeface="Aptos"/>
              </a:defRPr>
            </a:pPr>
            <a:r>
              <a:t>Voltage • Current • Power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1600200"/>
            <a:ext cx="2880360" cy="1508760"/>
          </a:xfrm>
          <a:prstGeom prst="roundRect">
            <a:avLst/>
          </a:prstGeom>
          <a:solidFill>
            <a:srgbClr val="ED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1600200"/>
            <a:ext cx="64008" cy="1508760"/>
          </a:xfrm>
          <a:prstGeom prst="rect">
            <a:avLst/>
          </a:prstGeom>
          <a:solidFill>
            <a:srgbClr val="51B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1764792"/>
            <a:ext cx="2514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51B5DA"/>
                </a:solidFill>
                <a:latin typeface="Aptos"/>
              </a:defRPr>
            </a:pPr>
            <a:r>
              <a:t>LINEAR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2167128"/>
            <a:ext cx="251460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303A"/>
                </a:solidFill>
                <a:latin typeface="Aptos"/>
              </a:defRPr>
            </a:pPr>
            <a:r>
              <a:t>Find a requested power value in the panel data.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600200"/>
            <a:ext cx="2880360" cy="1508760"/>
          </a:xfrm>
          <a:prstGeom prst="roundRect">
            <a:avLst/>
          </a:prstGeom>
          <a:solidFill>
            <a:srgbClr val="ED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600200"/>
            <a:ext cx="64008" cy="1508760"/>
          </a:xfrm>
          <a:prstGeom prst="rect">
            <a:avLst/>
          </a:prstGeom>
          <a:solidFill>
            <a:srgbClr val="F7B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9288" y="1764792"/>
            <a:ext cx="2514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7B72D"/>
                </a:solidFill>
                <a:latin typeface="Aptos"/>
              </a:defRPr>
            </a:pPr>
            <a:r>
              <a:t>BUBBLE SORT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9288" y="2167128"/>
            <a:ext cx="251460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303A"/>
                </a:solidFill>
                <a:latin typeface="Aptos"/>
              </a:defRPr>
            </a:pPr>
            <a:r>
              <a:t>Arrange power values from highest to lowest.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3383280"/>
            <a:ext cx="2880360" cy="1508760"/>
          </a:xfrm>
          <a:prstGeom prst="roundRect">
            <a:avLst/>
          </a:prstGeom>
          <a:solidFill>
            <a:srgbClr val="ED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0" y="3383280"/>
            <a:ext cx="64008" cy="1508760"/>
          </a:xfrm>
          <a:prstGeom prst="rect">
            <a:avLst/>
          </a:prstGeom>
          <a:solidFill>
            <a:srgbClr val="32A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73168" y="3547872"/>
            <a:ext cx="2514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32A670"/>
                </a:solidFill>
                <a:latin typeface="Aptos"/>
              </a:defRPr>
            </a:pPr>
            <a:r>
              <a:t>2D ARRAY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3168" y="3950208"/>
            <a:ext cx="251460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303A"/>
                </a:solidFill>
                <a:latin typeface="Aptos"/>
              </a:defRPr>
            </a:pPr>
            <a:r>
              <a:t>Morning + Evening monitoring data.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18120" y="3383280"/>
            <a:ext cx="2880360" cy="1508760"/>
          </a:xfrm>
          <a:prstGeom prst="roundRect">
            <a:avLst/>
          </a:prstGeom>
          <a:solidFill>
            <a:srgbClr val="ED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18120" y="3383280"/>
            <a:ext cx="64008" cy="1508760"/>
          </a:xfrm>
          <a:prstGeom prst="rect">
            <a:avLst/>
          </a:prstGeom>
          <a:solidFill>
            <a:srgbClr val="187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9288" y="3547872"/>
            <a:ext cx="2514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870B0"/>
                </a:solidFill>
                <a:latin typeface="Aptos"/>
              </a:defRPr>
            </a:pPr>
            <a:r>
              <a:t>PROCESSING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3950208"/>
            <a:ext cx="251460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303A"/>
                </a:solidFill>
                <a:latin typeface="Aptos"/>
              </a:defRPr>
            </a:pPr>
            <a:r>
              <a:t>Row-wise / column-wise traversal.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3794760"/>
            <a:ext cx="3337560" cy="1691640"/>
          </a:xfrm>
          <a:prstGeom prst="roundRect">
            <a:avLst/>
          </a:prstGeom>
          <a:solidFill>
            <a:srgbClr val="0A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4096512"/>
            <a:ext cx="2788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7B72D"/>
                </a:solidFill>
                <a:latin typeface="Aptos"/>
              </a:defRPr>
            </a:pPr>
            <a:r>
              <a:t>INTEGRATED APPLICATION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4590288"/>
            <a:ext cx="2788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FAFCFD"/>
                </a:solidFill>
                <a:latin typeface="Aptos"/>
              </a:defRPr>
            </a:pPr>
            <a:r>
              <a:t>Arrays + Searching + Sorting</a:t>
            </a:r>
            <a:br/>
            <a:r>
              <a:t>+ 2D Arrays + Iteration</a:t>
            </a:r>
            <a:br/>
            <a:r>
              <a:t>+ Data Processing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870B0"/>
                </a:solidFill>
                <a:latin typeface="Aptos"/>
              </a:defRPr>
            </a:pPr>
            <a:r>
              <a:t>PROJECT SUBMISSION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98755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A1C2D"/>
                </a:solidFill>
                <a:latin typeface="Aptos"/>
              </a:defRPr>
            </a:pPr>
            <a:r>
              <a:t>Geo-Tag Photo &amp;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3891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677781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914400" cy="54864"/>
          </a:xfrm>
          <a:prstGeom prst="rect">
            <a:avLst/>
          </a:prstGeom>
          <a:solidFill>
            <a:srgbClr val="F7B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6400800" cy="4160520"/>
          </a:xfrm>
          <a:prstGeom prst="roundRect">
            <a:avLst/>
          </a:prstGeom>
          <a:solidFill>
            <a:srgbClr val="ED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2148840"/>
            <a:ext cx="5577840" cy="2468880"/>
          </a:xfrm>
          <a:prstGeom prst="rect">
            <a:avLst/>
          </a:prstGeom>
          <a:solidFill>
            <a:srgbClr val="DCE8EC"/>
          </a:solidFill>
          <a:ln>
            <a:solidFill>
              <a:srgbClr val="51B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349240" y="2423160"/>
            <a:ext cx="502920" cy="502920"/>
          </a:xfrm>
          <a:prstGeom prst="ellipse">
            <a:avLst/>
          </a:prstGeom>
          <a:solidFill>
            <a:srgbClr val="F7B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2880360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0A1C2D"/>
                </a:solidFill>
                <a:latin typeface="Aptos"/>
              </a:defRPr>
            </a:pPr>
            <a:r>
              <a:t>INSERT GEO-TAGGED</a:t>
            </a:r>
            <a:br/>
            <a:r>
              <a:t>PROJECT PHOTO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0749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677781"/>
                </a:solidFill>
                <a:latin typeface="Aptos"/>
              </a:defRPr>
            </a:pPr>
            <a:r>
              <a:t>Use the actual geo-tagged photo required by your college.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1600200"/>
            <a:ext cx="4023360" cy="4160520"/>
          </a:xfrm>
          <a:prstGeom prst="roundRect">
            <a:avLst/>
          </a:prstGeom>
          <a:solidFill>
            <a:srgbClr val="0A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196596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7B72D"/>
                </a:solidFill>
                <a:latin typeface="Aptos"/>
              </a:defRPr>
            </a:pPr>
            <a:r>
              <a:t>GITHUB REPOSITORY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788920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AFCFD"/>
                </a:solidFill>
                <a:latin typeface="Aptos"/>
              </a:defRPr>
            </a:pPr>
            <a:r>
              <a:t>Paste your GitHub link 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3474720"/>
            <a:ext cx="329184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51B5DA"/>
                </a:solidFill>
                <a:latin typeface="Aptos"/>
              </a:defRPr>
            </a:pPr>
            <a:r>
              <a:t>Recommended files</a:t>
            </a:r>
            <a:br/>
            <a:br/>
            <a:r>
              <a:t>• RooftopSolarEnergyMonitor.java</a:t>
            </a:r>
            <a:br/>
            <a:r>
              <a:t>• Project Presentation.pptx</a:t>
            </a:r>
            <a:br/>
            <a:r>
              <a:t>• README.md</a:t>
            </a:r>
            <a:br/>
            <a:r>
              <a:t>• Documentation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05332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0A1C2D"/>
                </a:solidFill>
                <a:latin typeface="Aptos"/>
              </a:defRPr>
            </a:pPr>
            <a:r>
              <a:t>ROOFTOP SOLAR ENERGY MONITOR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