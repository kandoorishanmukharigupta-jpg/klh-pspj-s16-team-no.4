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5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006840" y="658368"/>
            <a:ext cx="1874519" cy="1874519"/>
          </a:xfrm>
          <a:prstGeom prst="ellipse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543800" y="2971800"/>
            <a:ext cx="3566160" cy="2011680"/>
          </a:xfrm>
          <a:prstGeom prst="roundRect">
            <a:avLst/>
          </a:prstGeom>
          <a:solidFill>
            <a:srgbClr val="133044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18120" y="324612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67928" y="324612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17736" y="324612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67544" y="324612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818120" y="3749039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567928" y="3749039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17736" y="3749039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0067544" y="3749039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18120" y="425196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567928" y="425196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317736" y="425196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067544" y="4251960"/>
            <a:ext cx="621792" cy="365760"/>
          </a:xfrm>
          <a:prstGeom prst="rect">
            <a:avLst/>
          </a:prstGeom>
          <a:solidFill>
            <a:srgbClr val="1870B0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4400" y="658368"/>
            <a:ext cx="109728" cy="5257800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25880" y="86868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7B72D"/>
                </a:solidFill>
                <a:latin typeface="Aptos"/>
              </a:defRPr>
            </a:pPr>
            <a:r>
              <a:t>JAVA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1325880"/>
            <a:ext cx="61264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400" b="1">
                <a:solidFill>
                  <a:srgbClr val="FAFCFD"/>
                </a:solidFill>
                <a:latin typeface="Aptos Display"/>
              </a:defRPr>
            </a:pPr>
            <a:r>
              <a:t>ROOFTOP SOLAR</a:t>
            </a:r>
            <a:br/>
            <a:r>
              <a:t>ENERGY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3063240"/>
            <a:ext cx="6035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51B5DA"/>
                </a:solidFill>
                <a:latin typeface="Aptos"/>
              </a:defRPr>
            </a:pPr>
            <a:r>
              <a:t>Monitor • Calculate • Classify • Analyze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3794760"/>
            <a:ext cx="5669280" cy="1417320"/>
          </a:xfrm>
          <a:prstGeom prst="roundRect">
            <a:avLst/>
          </a:prstGeom>
          <a:solidFill>
            <a:srgbClr val="133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72768" y="40050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7B72D"/>
                </a:solidFill>
                <a:latin typeface="Aptos"/>
              </a:defRPr>
            </a:pPr>
            <a:r>
              <a:t>TEAM MEMBERS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370832"/>
            <a:ext cx="5029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FAFCFD"/>
                </a:solidFill>
                <a:latin typeface="Aptos"/>
              </a:defRPr>
            </a:pPr>
            <a:r>
              <a:t>K. Shanmuk — 2620040047</a:t>
            </a:r>
            <a:br/>
            <a:r>
              <a:t>K. Sai Varshith Krishna — 2620040129</a:t>
            </a:r>
            <a:br/>
            <a:r>
              <a:t>D. Sri Pavan Ranga — 2620040106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09360"/>
            <a:ext cx="548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1">
                <a:solidFill>
                  <a:srgbClr val="51B5DA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794760" cy="4251960"/>
          </a:xfrm>
          <a:prstGeom prst="round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938528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B72D"/>
                </a:solidFill>
                <a:latin typeface="Aptos"/>
              </a:defRPr>
            </a:pPr>
            <a:r>
              <a:t>SOLAR ENERGY FLOW</a:t>
            </a:r>
          </a:p>
        </p:txBody>
      </p:sp>
      <p:sp>
        <p:nvSpPr>
          <p:cNvPr id="8" name="Oval 7"/>
          <p:cNvSpPr/>
          <p:nvPr/>
        </p:nvSpPr>
        <p:spPr>
          <a:xfrm>
            <a:off x="1097280" y="2514600"/>
            <a:ext cx="658368" cy="658368"/>
          </a:xfrm>
          <a:prstGeom prst="ellipse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66090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C2D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1952" y="263347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CFD"/>
                </a:solidFill>
                <a:latin typeface="Aptos"/>
              </a:defRPr>
            </a:pPr>
            <a:r>
              <a:t>VOLTAGE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99032" y="3172968"/>
            <a:ext cx="45720" cy="320040"/>
          </a:xfrm>
          <a:prstGeom prst="rect">
            <a:avLst/>
          </a:prstGeom>
          <a:solidFill>
            <a:srgbClr val="67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" y="3246120"/>
            <a:ext cx="658368" cy="658368"/>
          </a:xfrm>
          <a:prstGeom prst="ellipse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39242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C2D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2" y="336499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CFD"/>
                </a:solidFill>
                <a:latin typeface="Aptos"/>
              </a:defRPr>
            </a:pPr>
            <a:r>
              <a:t>CURRENT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9032" y="3904487"/>
            <a:ext cx="45720" cy="320040"/>
          </a:xfrm>
          <a:prstGeom prst="rect">
            <a:avLst/>
          </a:prstGeom>
          <a:solidFill>
            <a:srgbClr val="67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97280" y="3977639"/>
            <a:ext cx="658368" cy="658368"/>
          </a:xfrm>
          <a:prstGeom prst="ellipse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412394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C2D"/>
                </a:solidFill>
                <a:latin typeface="Aptos"/>
              </a:defRPr>
            </a:pPr>
            <a:r>
              <a:t>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1952" y="4096511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CFD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99032" y="4636007"/>
            <a:ext cx="45720" cy="320040"/>
          </a:xfrm>
          <a:prstGeom prst="rect">
            <a:avLst/>
          </a:prstGeom>
          <a:solidFill>
            <a:srgbClr val="677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97280" y="4709160"/>
            <a:ext cx="658368" cy="658368"/>
          </a:xfrm>
          <a:prstGeom prst="ellipse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855464"/>
            <a:ext cx="65836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0A1C2D"/>
                </a:solidFill>
                <a:latin typeface="Aptos"/>
              </a:defRPr>
            </a:pPr>
            <a: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1952" y="4828032"/>
            <a:ext cx="2011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AFCFD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80" y="1737360"/>
            <a:ext cx="5943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0A1C2D"/>
                </a:solidFill>
                <a:latin typeface="Aptos"/>
              </a:defRPr>
            </a:pPr>
            <a:r>
              <a:t>What the application does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83480" y="2331720"/>
            <a:ext cx="6080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Accepts voltage and current for multiple solar panels.</a:t>
            </a:r>
          </a:p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Calculates generated power using Power = Voltage × Current.</a:t>
            </a:r>
          </a:p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Classifies each panel as NORMAL, MODERATE, or LOW POWER.</a:t>
            </a:r>
          </a:p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Calculates total and average power.</a:t>
            </a:r>
          </a:p>
          <a:p>
            <a:pPr>
              <a:spcAft>
                <a:spcPts val="800"/>
              </a:spcAft>
              <a:defRPr sz="1700">
                <a:solidFill>
                  <a:srgbClr val="23303A"/>
                </a:solidFill>
                <a:latin typeface="Aptos"/>
              </a:defRPr>
            </a:pPr>
            <a:r>
              <a:t>• Performs searching, sorting, and 2D-array monitoring.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83480" y="5440680"/>
            <a:ext cx="6035040" cy="566928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93792" y="5596128"/>
            <a:ext cx="5623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1870B0"/>
                </a:solidFill>
                <a:latin typeface="Aptos"/>
              </a:defRPr>
            </a:pPr>
            <a:r>
              <a:t>NORMAL ≥ 500 W   |   MODERATE 300–499.99 W   |   LOW &lt; 300 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PROJECT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Understanding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8720" y="2039112"/>
            <a:ext cx="640080" cy="640080"/>
          </a:xfrm>
          <a:prstGeom prst="ellipse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Panels</a:t>
            </a:r>
            <a:br/>
            <a:r>
              <a:t>Voltage</a:t>
            </a:r>
            <a:br/>
            <a:r>
              <a:t>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0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474720" y="2039112"/>
            <a:ext cx="640080" cy="640080"/>
          </a:xfrm>
          <a:prstGeom prst="ellipse">
            <a:avLst/>
          </a:prstGeom>
          <a:solidFill>
            <a:srgbClr val="18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Power = V × 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760720" y="2039112"/>
            <a:ext cx="640080" cy="640080"/>
          </a:xfrm>
          <a:prstGeom prst="ellipse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0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Normal</a:t>
            </a:r>
            <a:br/>
            <a:r>
              <a:t>Moderate</a:t>
            </a:r>
            <a:br/>
            <a:r>
              <a:t>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52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46720" y="2039112"/>
            <a:ext cx="640080" cy="640080"/>
          </a:xfrm>
          <a:prstGeom prst="ellipse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16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ANALYZE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Total</a:t>
            </a:r>
            <a:br/>
            <a:r>
              <a:t>Average</a:t>
            </a:r>
            <a:br/>
            <a:r>
              <a:t>Search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828800"/>
            <a:ext cx="1828800" cy="251460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332720" y="2039112"/>
            <a:ext cx="640080" cy="640080"/>
          </a:xfrm>
          <a:prstGeom prst="ellipse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2720" y="2221992"/>
            <a:ext cx="640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0A1C2D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288036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02952" y="3337560"/>
            <a:ext cx="15087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23303A"/>
                </a:solidFill>
                <a:latin typeface="Aptos"/>
              </a:defRPr>
            </a:pPr>
            <a:r>
              <a:t>Ranking</a:t>
            </a:r>
            <a:br/>
            <a:r>
              <a:t>2D 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800600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870B0"/>
                </a:solidFill>
                <a:latin typeface="Aptos"/>
              </a:defRPr>
            </a:pPr>
            <a:r>
              <a:t>Problem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4754880"/>
            <a:ext cx="97840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Solar panels can produce different amounts of power. Manual calculation and comparison becomes inconvenient when multiple panels are involved.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96128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0A1C2D"/>
                </a:solidFill>
                <a:latin typeface="Aptos"/>
              </a:defRPr>
            </a:pPr>
            <a:r>
              <a:t>Output → individual power • status • total • average • search result • ranking • monitoring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JAVA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CO-1 — Fundamentals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3337560" cy="347472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691640"/>
            <a:ext cx="64008" cy="3474720"/>
          </a:xfrm>
          <a:prstGeom prst="rect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6968" y="185623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B5DA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58568"/>
            <a:ext cx="29718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303A"/>
                </a:solidFill>
                <a:latin typeface="Aptos"/>
              </a:defRPr>
            </a:pPr>
            <a:r>
              <a:t>Voltage (V)</a:t>
            </a:r>
            <a:br/>
            <a:r>
              <a:t>Current (A)</a:t>
            </a:r>
            <a:br/>
            <a:r>
              <a:t>Number of panels</a:t>
            </a:r>
            <a:br/>
            <a:r>
              <a:t>User input via Scanner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91640"/>
            <a:ext cx="3337560" cy="347472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434840" y="1691640"/>
            <a:ext cx="64008" cy="3474720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36007" y="185623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B72D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6007" y="2258568"/>
            <a:ext cx="29718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303A"/>
                </a:solidFill>
                <a:latin typeface="Aptos"/>
              </a:defRPr>
            </a:pPr>
            <a:r>
              <a:t>Power = Voltage × Current</a:t>
            </a:r>
            <a:br/>
            <a:r>
              <a:t>Variables &amp; data types</a:t>
            </a:r>
            <a:br/>
            <a:r>
              <a:t>Arithmetic operators</a:t>
            </a:r>
            <a:br/>
            <a:r>
              <a:t>Relational operators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91640"/>
            <a:ext cx="3337560" cy="347472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183879" y="1691640"/>
            <a:ext cx="64008" cy="3474720"/>
          </a:xfrm>
          <a:prstGeom prst="rect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85048" y="1856232"/>
            <a:ext cx="2971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2A670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5048" y="2258568"/>
            <a:ext cx="2971800" cy="2788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303A"/>
                </a:solidFill>
                <a:latin typeface="Aptos"/>
              </a:defRPr>
            </a:pPr>
            <a:r>
              <a:t>Panel power</a:t>
            </a:r>
            <a:br/>
            <a:r>
              <a:t>Panel status</a:t>
            </a:r>
            <a:br/>
            <a:r>
              <a:t>Total power</a:t>
            </a:r>
            <a:br/>
            <a:r>
              <a:t>Average power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0A1C2D"/>
                </a:solidFill>
                <a:latin typeface="Aptos"/>
              </a:defRPr>
            </a:pPr>
            <a:r>
              <a:t>Concepts demonstrated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5394960"/>
            <a:ext cx="8366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Computational Thinking  •  IPO Model  •  Problem Solving  •  Java Program Structure  •  int / double  •  Operators  •  Scanner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JAVA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CO-2 — Control &amp;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4983480" cy="4251960"/>
          </a:xfrm>
          <a:prstGeom prst="round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1874519"/>
            <a:ext cx="4023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F7B72D"/>
                </a:solidFill>
                <a:latin typeface="Aptos"/>
              </a:defRPr>
            </a:pPr>
            <a:r>
              <a:t>PANEL STATUS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2423160"/>
            <a:ext cx="416052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0">
                <a:solidFill>
                  <a:srgbClr val="FAFCFD"/>
                </a:solidFill>
                <a:latin typeface="Consolas"/>
              </a:defRPr>
            </a:pPr>
            <a:r>
              <a:t>if (power[i] &gt;= 500)</a:t>
            </a:r>
            <a:br/>
            <a:r>
              <a:t>    NORMAL</a:t>
            </a:r>
            <a:br/>
            <a:r>
              <a:t>else if (power[i] &gt;= 300)</a:t>
            </a:r>
            <a:br/>
            <a:r>
              <a:t>    MODERATE</a:t>
            </a:r>
            <a:br/>
            <a:r>
              <a:t>else</a:t>
            </a:r>
            <a:br/>
            <a:r>
              <a:t>    LOW POWER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4892040"/>
            <a:ext cx="4160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B5DA"/>
                </a:solidFill>
                <a:latin typeface="Aptos"/>
              </a:defRPr>
            </a:pPr>
            <a:r>
              <a:t>for loop → processes every panel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1600200"/>
            <a:ext cx="251460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89320" y="1600200"/>
            <a:ext cx="64008" cy="1508760"/>
          </a:xfrm>
          <a:prstGeom prst="rect">
            <a:avLst/>
          </a:prstGeom>
          <a:solidFill>
            <a:srgbClr val="18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90488" y="176479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70B0"/>
                </a:solidFill>
                <a:latin typeface="Aptos"/>
              </a:defRPr>
            </a:pPr>
            <a:r>
              <a:t>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0488" y="2167128"/>
            <a:ext cx="21488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if</a:t>
            </a:r>
            <a:br/>
            <a:r>
              <a:t>else-if</a:t>
            </a:r>
            <a:br/>
            <a:r>
              <a:t>else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600200"/>
            <a:ext cx="251460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823960" y="1600200"/>
            <a:ext cx="64008" cy="1508760"/>
          </a:xfrm>
          <a:prstGeom prst="rect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25128" y="176479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2A670"/>
                </a:solidFill>
                <a:latin typeface="Aptos"/>
              </a:defRPr>
            </a:pPr>
            <a:r>
              <a:t>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25128" y="2167128"/>
            <a:ext cx="21488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for loop</a:t>
            </a:r>
            <a:br/>
            <a:r>
              <a:t>Repeated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89320" y="3383280"/>
            <a:ext cx="251460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89320" y="3383280"/>
            <a:ext cx="64008" cy="1508760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90488" y="35478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B72D"/>
                </a:solidFill>
                <a:latin typeface="Aptos"/>
              </a:defRPr>
            </a:pPr>
            <a:r>
              <a:t>METHODS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3950208"/>
            <a:ext cx="21488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Total power</a:t>
            </a:r>
            <a:br/>
            <a:r>
              <a:t>Linear search</a:t>
            </a:r>
            <a:br/>
            <a:r>
              <a:t>Sorting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3383280"/>
            <a:ext cx="251460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3383280"/>
            <a:ext cx="64008" cy="1508760"/>
          </a:xfrm>
          <a:prstGeom prst="rect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25128" y="3547872"/>
            <a:ext cx="214884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B5DA"/>
                </a:solidFill>
                <a:latin typeface="Aptos"/>
              </a:defRPr>
            </a:pPr>
            <a:r>
              <a:t>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25128" y="3950208"/>
            <a:ext cx="214884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303A"/>
                </a:solidFill>
                <a:latin typeface="Aptos"/>
              </a:defRPr>
            </a:pPr>
            <a:r>
              <a:t>Input → Process</a:t>
            </a:r>
            <a:br/>
            <a:r>
              <a:t>→ Decision → 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5230368"/>
            <a:ext cx="5349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23303A"/>
                </a:solidFill>
                <a:latin typeface="Aptos"/>
              </a:defRPr>
            </a:pPr>
            <a:r>
              <a:t>Overall system decision: average power is used to determine whether the system is NORMAL or NEEDS ATTENTION.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JAVA SYLLABUS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CO-3 — Arrays &amp; 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70B0"/>
                </a:solidFill>
                <a:latin typeface="Aptos"/>
              </a:defRPr>
            </a:pPr>
            <a:r>
              <a:t>1D ARRAYS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011680"/>
            <a:ext cx="731520" cy="594360"/>
          </a:xfrm>
          <a:prstGeom prst="roundRect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1945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2D"/>
                </a:solidFill>
                <a:latin typeface="Aptos"/>
              </a:defRPr>
            </a:pPr>
            <a:r>
              <a:t>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00200" y="2011680"/>
            <a:ext cx="731520" cy="594360"/>
          </a:xfrm>
          <a:prstGeom prst="roundRect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00200" y="21945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2D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14600" y="2011680"/>
            <a:ext cx="731520" cy="594360"/>
          </a:xfrm>
          <a:prstGeom prst="round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14600" y="21945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2D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11680"/>
            <a:ext cx="731520" cy="594360"/>
          </a:xfrm>
          <a:prstGeom prst="round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29000" y="2194560"/>
            <a:ext cx="731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0A1C2D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74320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677781"/>
                </a:solidFill>
                <a:latin typeface="Aptos"/>
              </a:defRPr>
            </a:pPr>
            <a:r>
              <a:t>Voltage • Current • Power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600200"/>
            <a:ext cx="288036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0" y="1600200"/>
            <a:ext cx="64008" cy="1508760"/>
          </a:xfrm>
          <a:prstGeom prst="rect">
            <a:avLst/>
          </a:prstGeom>
          <a:solidFill>
            <a:srgbClr val="51B5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1764792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51B5DA"/>
                </a:solidFill>
                <a:latin typeface="Aptos"/>
              </a:defRPr>
            </a:pPr>
            <a:r>
              <a:t>LINEAR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167128"/>
            <a:ext cx="25146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Find a requested power value in the panel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18120" y="1600200"/>
            <a:ext cx="288036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818120" y="1600200"/>
            <a:ext cx="64008" cy="1508760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19288" y="1764792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7B72D"/>
                </a:solidFill>
                <a:latin typeface="Aptos"/>
              </a:defRPr>
            </a:pPr>
            <a:r>
              <a:t>BUBBLE SORT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19288" y="2167128"/>
            <a:ext cx="25146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Arrange power values from highest to lowest.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0" y="3383280"/>
            <a:ext cx="288036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0" y="3383280"/>
            <a:ext cx="64008" cy="1508760"/>
          </a:xfrm>
          <a:prstGeom prst="rect">
            <a:avLst/>
          </a:prstGeom>
          <a:solidFill>
            <a:srgbClr val="32A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73168" y="3547872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2A670"/>
                </a:solidFill>
                <a:latin typeface="Aptos"/>
              </a:defRPr>
            </a:pPr>
            <a:r>
              <a:t>2D ARRAY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73168" y="3950208"/>
            <a:ext cx="25146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Morning + Evening monitoring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818120" y="3383280"/>
            <a:ext cx="2880360" cy="150876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18120" y="3383280"/>
            <a:ext cx="64008" cy="1508760"/>
          </a:xfrm>
          <a:prstGeom prst="rect">
            <a:avLst/>
          </a:prstGeom>
          <a:solidFill>
            <a:srgbClr val="187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19288" y="3547872"/>
            <a:ext cx="2514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870B0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3950208"/>
            <a:ext cx="2514600" cy="8229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303A"/>
                </a:solidFill>
                <a:latin typeface="Aptos"/>
              </a:defRPr>
            </a:pPr>
            <a:r>
              <a:t>Row-wise / column-wise traversal.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" y="3794760"/>
            <a:ext cx="3337560" cy="1691640"/>
          </a:xfrm>
          <a:prstGeom prst="round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0120" y="4096512"/>
            <a:ext cx="2788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300" b="1">
                <a:solidFill>
                  <a:srgbClr val="F7B72D"/>
                </a:solidFill>
                <a:latin typeface="Aptos"/>
              </a:defRPr>
            </a:pPr>
            <a:r>
              <a:t>INTEGRATED APPLICATION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590288"/>
            <a:ext cx="2788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0">
                <a:solidFill>
                  <a:srgbClr val="FAFCFD"/>
                </a:solidFill>
                <a:latin typeface="Aptos"/>
              </a:defRPr>
            </a:pPr>
            <a:r>
              <a:t>Arrays + Searching + Sorting</a:t>
            </a:r>
            <a:br/>
            <a:r>
              <a:t>+ 2D Arrays + Iteration</a:t>
            </a:r>
            <a:br/>
            <a:r>
              <a:t>+ Data Processing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8368" y="384048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870B0"/>
                </a:solidFill>
                <a:latin typeface="Aptos"/>
              </a:defRPr>
            </a:pPr>
            <a:r>
              <a:t>PROJECT SUBMISSION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94944"/>
            <a:ext cx="98755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0A1C2D"/>
                </a:solidFill>
                <a:latin typeface="Aptos"/>
              </a:defRPr>
            </a:pPr>
            <a:r>
              <a:t>Geo-Tag Photo &amp; 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18520" y="438912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100" b="1">
                <a:solidFill>
                  <a:srgbClr val="677781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98448"/>
            <a:ext cx="914400" cy="54864"/>
          </a:xfrm>
          <a:prstGeom prst="rect">
            <a:avLst/>
          </a:prstGeom>
          <a:solidFill>
            <a:srgbClr val="F7B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6400800" cy="4160520"/>
          </a:xfrm>
          <a:prstGeom prst="roundRect">
            <a:avLst/>
          </a:prstGeom>
          <a:solidFill>
            <a:srgbClr val="ED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97280" y="2148840"/>
            <a:ext cx="5577840" cy="2468880"/>
          </a:xfrm>
          <a:prstGeom prst="rect">
            <a:avLst/>
          </a:prstGeom>
          <a:solidFill>
            <a:srgbClr val="DCE8EC"/>
          </a:solidFill>
          <a:ln>
            <a:solidFill>
              <a:srgbClr val="51B5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43000" y="507492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677781"/>
                </a:solidFill>
                <a:latin typeface="Aptos"/>
              </a:defRPr>
            </a:pPr>
            <a:r>
              <a:t>Use the actual geo-tagged photo required by your college.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1600200"/>
            <a:ext cx="4023360" cy="4160520"/>
          </a:xfrm>
          <a:prstGeom prst="roundRect">
            <a:avLst/>
          </a:prstGeom>
          <a:solidFill>
            <a:srgbClr val="0A1C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818120" y="196596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7B72D"/>
                </a:solidFill>
                <a:latin typeface="Aptos"/>
              </a:defRPr>
            </a:pPr>
            <a:r>
              <a:t>GITHUB REPOSITORY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8120" y="2788920"/>
            <a:ext cx="329184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FAFCFD"/>
                </a:solidFill>
                <a:latin typeface="Aptos"/>
              </a:defRPr>
            </a:pPr>
            <a:r>
              <a:rPr lang="en-IN" b="1">
                <a:solidFill>
                  <a:srgbClr val="FAFCFD"/>
                </a:solidFill>
                <a:latin typeface="Aptos"/>
              </a:rPr>
              <a:t>https://github.com/kandoorishanmukharigupta-jpg/KLH-PSPJ-S16-TEAM-NO.4/blob/main/Rooftop_Solar_Energy_Monitor_Fresh_Design%20(2).pptx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7818120" y="3474720"/>
            <a:ext cx="3291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1B5DA"/>
                </a:solidFill>
                <a:latin typeface="Aptos"/>
              </a:defRPr>
            </a:pPr>
            <a:r>
              <a:rPr lang="en-US" dirty="0"/>
              <a:t> 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31520" y="6053328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0A1C2D"/>
                </a:solidFill>
                <a:latin typeface="Aptos"/>
              </a:defRPr>
            </a:pPr>
            <a:r>
              <a:t>ROOFTOP SOLAR ENERGY MONITOR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C41C188-9F1B-93FC-75D3-DF33F0F0B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07628"/>
            <a:ext cx="5577840" cy="35239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502</Words>
  <Application>Microsoft Office PowerPoint</Application>
  <PresentationFormat>Widescreen</PresentationFormat>
  <Paragraphs>99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Shanmuk Hari Guptha</cp:lastModifiedBy>
  <cp:revision>2</cp:revision>
  <dcterms:created xsi:type="dcterms:W3CDTF">2013-01-27T09:14:16Z</dcterms:created>
  <dcterms:modified xsi:type="dcterms:W3CDTF">2026-09-20T13:07:52Z</dcterms:modified>
  <cp:category/>
</cp:coreProperties>
</file>